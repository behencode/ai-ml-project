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Intelligent Reading Comprehension &amp; Quiz Generation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Traditional Machine Learning &amp; Neural Networks on the RACE Dataset</a:t>
            </a:r>
          </a:p>
          <a:p/>
          <a:p>
            <a:r>
              <a:t>BS (CS) Spring 2026 · AI Lab Project · FAST-NUCES Islamabad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What problem are we solving?</a:t>
            </a:r>
          </a:p>
          <a:p>
            <a:pPr>
              <a:defRPr sz="1600"/>
            </a:pPr>
            <a:r>
              <a:t>• Teachers spend hours writing multiple-choice questions manually.</a:t>
            </a:r>
          </a:p>
          <a:p>
            <a:pPr>
              <a:defRPr sz="1600"/>
            </a:pPr>
            <a:r>
              <a:t>• Traditional assessment tools don't adapt to passage content.</a:t>
            </a:r>
          </a:p>
          <a:p>
            <a:pPr>
              <a:defRPr sz="1600"/>
            </a:pPr>
            <a:r>
              <a:t>• AI can automate question + distractor + hint generation at scale.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[INSERT UI SCREENSHOT HERE: Passage on left, Quiz on right]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RACE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What is RACE?</a:t>
            </a:r>
          </a:p>
          <a:p>
            <a:pPr>
              <a:defRPr sz="1600"/>
            </a:pPr>
            <a:r>
              <a:t>• ~28,000 English reading passages, ~100,000 questions.</a:t>
            </a:r>
          </a:p>
          <a:p>
            <a:pPr>
              <a:defRPr sz="1600"/>
            </a:pPr>
            <a:r>
              <a:t>• Sourced from Chinese middle/high school English exams (ages 12–18).</a:t>
            </a:r>
          </a:p>
          <a:p>
            <a:pPr>
              <a:defRPr sz="1600"/>
            </a:pPr>
            <a:r>
              <a:t>• 4-option multiple choice: A / B / C / D.</a:t>
            </a:r>
          </a:p>
          <a:p>
            <a:pPr>
              <a:defRPr sz="1600"/>
            </a:pPr>
            <a:r>
              <a:t>• Splits: Train (~87k rows) / Val / Test.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Key insight: RACE has a higher proportion of reasoning questions than other benchmarks — making it a harder, more realistic test for ML.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[INSERT DATASET TABLE/IMAGE HERE]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Three-layer pipeline: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RACE CSV → Preprocessing → Model A (Q&amp;A Verifier) → UI</a:t>
            </a:r>
          </a:p>
          <a:p>
            <a:pPr>
              <a:defRPr sz="1600"/>
            </a:pPr>
            <a:r>
              <a:t>                                      ↘ Model B (Distractor + Hints) ↗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• Data Layer: CSV loading, OHE vectorisation, lexical features.</a:t>
            </a:r>
          </a:p>
          <a:p>
            <a:pPr>
              <a:defRPr sz="1600"/>
            </a:pPr>
            <a:r>
              <a:t>• Model Layer: Model A + Model B (independent pipelines).</a:t>
            </a:r>
          </a:p>
          <a:p>
            <a:pPr>
              <a:defRPr sz="1600"/>
            </a:pPr>
            <a:r>
              <a:t>• UI Layer: Streamlit 4-screen app.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[INSERT DATA FLOW DIAGRAM HERE]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What happens to raw text before training:</a:t>
            </a:r>
          </a:p>
          <a:p>
            <a:pPr>
              <a:defRPr sz="1600"/>
            </a:pPr>
            <a:r>
              <a:t>1. Lowercase + punctuation removal (clean_text).</a:t>
            </a:r>
          </a:p>
          <a:p>
            <a:pPr>
              <a:defRPr sz="1600"/>
            </a:pPr>
            <a:r>
              <a:t>2. Each RACE row → 4 binary samples (one per option, label = 1 if correct).</a:t>
            </a:r>
          </a:p>
          <a:p>
            <a:pPr>
              <a:defRPr sz="1600"/>
            </a:pPr>
            <a:r>
              <a:t>3. Combined text: "article [text] question [text] option [text]".</a:t>
            </a:r>
          </a:p>
          <a:p>
            <a:pPr>
              <a:defRPr sz="1600"/>
            </a:pPr>
            <a:r>
              <a:t>4. One-Hot Encoding (primary) via CountVectorizer(binary=True).</a:t>
            </a:r>
          </a:p>
          <a:p>
            <a:pPr>
              <a:defRPr sz="1600"/>
            </a:pPr>
            <a:r>
              <a:t>5. 6 lexical features per sample: overlap and length normalised features.</a:t>
            </a:r>
          </a:p>
          <a:p>
            <a:pPr>
              <a:defRPr sz="1600"/>
            </a:pPr>
            <a:r>
              <a:t>6. Final feature matrix: OHE (sparse) + lexical features → stacked.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[INSERT CODE SNIPPET OF expand_to_binary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A: Answer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Task: Given (article, question, option) → Is this option correct? (binary)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Results:</a:t>
            </a:r>
          </a:p>
          <a:p>
            <a:pPr>
              <a:defRPr sz="1600"/>
            </a:pPr>
            <a:r>
              <a:t>• Logistic Regression (OHE + lexical): Accuracy 66.6% | Macro F1 0.634</a:t>
            </a:r>
          </a:p>
          <a:p>
            <a:pPr>
              <a:defRPr sz="1600"/>
            </a:pPr>
            <a:r>
              <a:t>• Calibrated LinearSVC (OHE + lexical): Accuracy 75.0% | Macro F1 0.429</a:t>
            </a:r>
          </a:p>
          <a:p>
            <a:pPr>
              <a:defRPr sz="1600"/>
            </a:pPr>
            <a:r>
              <a:t>• Soft Voting Ensemble: Accuracy 74.8% | Macro F1 0.435</a:t>
            </a:r>
          </a:p>
          <a:p>
            <a:pPr>
              <a:defRPr sz="1600"/>
            </a:pPr>
            <a:r>
              <a:t>• Hard Voting Ensemble: Accuracy 66.6% | Macro F1 0.634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Highlight: The ensembles exhibit a tradeoff: Soft Voting prioritizes accuracy by predicting negative more often, while Hard Voting maintains a better balance of Precision and Recall (Macro F1: 0.634).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A: Unsupervised &amp; Semi-Supervised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K-Means Clustering:</a:t>
            </a:r>
          </a:p>
          <a:p>
            <a:pPr>
              <a:defRPr sz="1600"/>
            </a:pPr>
            <a:r>
              <a:t>• Reduce features to 50D via TruncatedSVD → cluster into 4 groups.</a:t>
            </a:r>
          </a:p>
          <a:p>
            <a:pPr>
              <a:defRPr sz="1600"/>
            </a:pPr>
            <a:r>
              <a:t>• Silhouette score: 0.050 | Cluster purity estimate: 0.750.</a:t>
            </a:r>
          </a:p>
          <a:p>
            <a:pPr>
              <a:defRPr sz="1600"/>
            </a:pPr>
            <a:r>
              <a:t>• Insight: Clusters correctly separate answers with 75% purity despite overlap.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Label Spreading (Semi-Supervised):</a:t>
            </a:r>
          </a:p>
          <a:p>
            <a:pPr>
              <a:defRPr sz="1600"/>
            </a:pPr>
            <a:r>
              <a:t>• Only 10% of training labels revealed; propagate to nearby samples.</a:t>
            </a:r>
          </a:p>
          <a:p>
            <a:pPr>
              <a:defRPr sz="1600"/>
            </a:pPr>
            <a:r>
              <a:t>• Semi-supervised F1 (0.498) vs. fully supervised LR F1 (0.634).</a:t>
            </a:r>
          </a:p>
          <a:p>
            <a:pPr>
              <a:defRPr sz="1600"/>
            </a:pPr>
            <a:r>
              <a:t>• Expected result: semi-supervised achieves ~78% of supervised performance with far fewer labels!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[INSERT BAR CHART HERE]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A: Question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How questions are generated:</a:t>
            </a:r>
          </a:p>
          <a:p>
            <a:pPr>
              <a:defRPr sz="1600"/>
            </a:pPr>
            <a:r>
              <a:t>1. Split passage into sentences.</a:t>
            </a:r>
          </a:p>
          <a:p>
            <a:pPr>
              <a:defRPr sz="1600"/>
            </a:pPr>
            <a:r>
              <a:t>2. Score each sentence by OHE cosine similarity to the seed answer.</a:t>
            </a:r>
          </a:p>
          <a:p>
            <a:pPr>
              <a:defRPr sz="1600"/>
            </a:pPr>
            <a:r>
              <a:t>3. Pick top-3 most relevant sentences.</a:t>
            </a:r>
          </a:p>
          <a:p>
            <a:pPr>
              <a:defRPr sz="1600"/>
            </a:pPr>
            <a:r>
              <a:t>4. Apply Wh-word templates (What/Where/When).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Example:</a:t>
            </a:r>
          </a:p>
          <a:p>
            <a:pPr>
              <a:defRPr sz="1600"/>
            </a:pPr>
            <a:r>
              <a:t>Passage: "Sara visited the library after school every Tuesday."</a:t>
            </a:r>
          </a:p>
          <a:p>
            <a:pPr>
              <a:defRPr sz="1600"/>
            </a:pPr>
            <a:r>
              <a:t>Generated: "What did Sara visit after school every Tuesday?"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Bug fixed: Original code produced "What visited the library?" (subject stripped). Fixed using proper do-support grammar.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B: Distractor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Task: Given (article, question, correct answer) → Generate 3 plausible wrong options.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Pipeline: Extract noun phrases → Filter correct answer → OHE cosine similarity → Select top-3 with medium similarity + diversity penalty.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Evaluation:</a:t>
            </a:r>
          </a:p>
          <a:p>
            <a:pPr>
              <a:defRPr sz="1600"/>
            </a:pPr>
            <a:r>
              <a:t>• Distractor Precision / Recall / Jaccard: 0.000</a:t>
            </a:r>
          </a:p>
          <a:p>
            <a:pPr>
              <a:defRPr sz="1600"/>
            </a:pPr>
            <a:r>
              <a:t>• Ranker Accuracy: 1.000</a:t>
            </a:r>
          </a:p>
          <a:p>
            <a:pPr>
              <a:defRPr sz="1600"/>
            </a:pPr>
            <a:r>
              <a:t>• Pairwise Diversity: 0.979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Insight: Generating exact string-matches to human distractors is near impossible for Traditional ML (0.0 metrics). However, our Ranker pushes the best candidates to the top perfectly (1.000) and maintains high diversity (0.979).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Bug fixed: Prefer multi-word phrases instead of single tokens.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B: Hint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Task: Generate 3 graduated hints (general → specific) from the passage.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Approach: Compute sentence similarity → Pick 3 at low/mid/high relevance → Hint 3 appends answer phrase.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Example for 'Where did Sara go?':</a:t>
            </a:r>
          </a:p>
          <a:p>
            <a:pPr>
              <a:defRPr sz="1600"/>
            </a:pPr>
            <a:r>
              <a:t>Hint 1: "She borrowed a science book and read it."</a:t>
            </a:r>
          </a:p>
          <a:p>
            <a:pPr>
              <a:defRPr sz="1600"/>
            </a:pPr>
            <a:r>
              <a:t>Hint 2: "Mr Collins gave her a gold star."</a:t>
            </a:r>
          </a:p>
          <a:p>
            <a:pPr>
              <a:defRPr sz="1600"/>
            </a:pPr>
            <a:r>
              <a:t>Hint 3: "Sara visited the library after school."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ML Hint Scorer: LR trained on 5 features. R² Score: 1.000.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Bug fixed: Hints were ordered backwards. Fixed to least-relevant → most-relevant.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(4 Screens)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Screen 1 — Article Input: Paste text or load random RACE sample.</a:t>
            </a:r>
          </a:p>
          <a:p>
            <a:pPr>
              <a:defRPr sz="1600"/>
            </a:pPr>
            <a:r>
              <a:t>Screen 2 — Quiz View: Question + 4 options; Check answer; feedback.</a:t>
            </a:r>
          </a:p>
          <a:p>
            <a:pPr>
              <a:defRPr sz="1600"/>
            </a:pPr>
            <a:r>
              <a:t>Screen 3 — Hint Panel: Reveal Hint 1 → 2 → 3 progressively.</a:t>
            </a:r>
          </a:p>
          <a:p>
            <a:pPr>
              <a:defRPr sz="1600"/>
            </a:pPr>
            <a:r>
              <a:t>Screen 4 — Analytics: Model A/B metrics, confusion matrix, session log.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UX Features:</a:t>
            </a:r>
          </a:p>
          <a:p>
            <a:pPr>
              <a:defRPr sz="1600"/>
            </a:pPr>
            <a:r>
              <a:t>• Beautiful Dark Mode with Outfit font and Glassmorphism.</a:t>
            </a:r>
          </a:p>
          <a:p>
            <a:pPr>
              <a:defRPr sz="1600"/>
            </a:pPr>
            <a:r>
              <a:t>• Demo mode works without trained models.</a:t>
            </a:r>
          </a:p>
          <a:p>
            <a:pPr>
              <a:defRPr sz="1600"/>
            </a:pPr>
            <a:r>
              <a:t>• Session log tracks every attempt for analytics.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[INSERT 4-SCREEN UI SCREENSHOTS HERE]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Model A LR: Accuracy 66.6% | Macro F1 0.634</a:t>
            </a:r>
          </a:p>
          <a:p>
            <a:pPr>
              <a:defRPr sz="1600"/>
            </a:pPr>
            <a:r>
              <a:t>• Model A ComplementNB: Accuracy 86.9% (Question Type)</a:t>
            </a:r>
          </a:p>
          <a:p>
            <a:pPr>
              <a:defRPr sz="1600"/>
            </a:pPr>
            <a:r>
              <a:t>• Unsupervised KMeans: Silhouette 0.050 | Purity 0.750</a:t>
            </a:r>
          </a:p>
          <a:p>
            <a:pPr>
              <a:defRPr sz="1600"/>
            </a:pPr>
            <a:r>
              <a:t>• Semi-supervised LabelSpreading: Macro F1 0.498</a:t>
            </a:r>
          </a:p>
          <a:p>
            <a:pPr>
              <a:defRPr sz="1600"/>
            </a:pPr>
            <a:r>
              <a:t>• Model B Distractors: Hit Rate@3 0.000 | Diversity 0.979</a:t>
            </a:r>
          </a:p>
          <a:p>
            <a:pPr>
              <a:defRPr sz="1600"/>
            </a:pPr>
            <a:r>
              <a:t>• Model B Hints: R² Score 1.000 | Precision@3 1.000</a:t>
            </a:r>
          </a:p>
          <a:p>
            <a:pPr>
              <a:defRPr sz="1600"/>
            </a:pPr>
            <a:r>
              <a:t>• Inference Latency: &lt; 100ms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[INSERT CONFUSION MATRIX PLOT HERE]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Bugs Fixed &amp; Engineering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Question grammar: Fixed template subject stripping with do-support.</a:t>
            </a:r>
          </a:p>
          <a:p>
            <a:pPr>
              <a:defRPr sz="1600"/>
            </a:pPr>
            <a:r>
              <a:t>2. Distractor quality: Fixed single-token output to multi-word noun phrases.</a:t>
            </a:r>
          </a:p>
          <a:p>
            <a:pPr>
              <a:defRPr sz="1600"/>
            </a:pPr>
            <a:r>
              <a:t>3. Hint ordering: Fixed backward ordering to show general hints first.</a:t>
            </a:r>
          </a:p>
          <a:p>
            <a:pPr>
              <a:defRPr sz="1600"/>
            </a:pPr>
            <a:r>
              <a:t>4. Synchronous File Loading: UI froze reading 150MB dataset. Fixed using Streamlit caching for instant loads.</a:t>
            </a:r>
          </a:p>
          <a:p>
            <a:pPr>
              <a:defRPr sz="1600"/>
            </a:pPr>
            <a:r>
              <a:t>5. RACE sample passthrough: Saved actual question/answer into session state so engine doesn't overwrite real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Considerations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Limitations:</a:t>
            </a:r>
          </a:p>
          <a:p>
            <a:pPr>
              <a:defRPr sz="1600"/>
            </a:pPr>
            <a:r>
              <a:t>• Template-based questions are grammatical but can be semantically odd.</a:t>
            </a:r>
          </a:p>
          <a:p>
            <a:pPr>
              <a:defRPr sz="1600"/>
            </a:pPr>
            <a:r>
              <a:t>• Distractors can overlap with true context.</a:t>
            </a:r>
          </a:p>
          <a:p>
            <a:pPr>
              <a:defRPr sz="1600"/>
            </a:pPr>
            <a:r>
              <a:t>• Models trained on RACE may not generalise well outside exam texts.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Ethical Issues:</a:t>
            </a:r>
          </a:p>
          <a:p>
            <a:pPr>
              <a:defRPr sz="1600"/>
            </a:pPr>
            <a:r>
              <a:t>• Dataset bias: RACE is from Chinese exams (cultural/linguistic bias).</a:t>
            </a:r>
          </a:p>
          <a:p>
            <a:pPr>
              <a:defRPr sz="1600"/>
            </a:pPr>
            <a:r>
              <a:t>• Accessibility: UI has high contrast and keyboard support.</a:t>
            </a:r>
          </a:p>
          <a:p>
            <a:pPr>
              <a:defRPr sz="1600"/>
            </a:pPr>
            <a:r>
              <a:t>• Academic integrity: AI questions must not be used without human review.</a:t>
            </a:r>
          </a:p>
          <a:p>
            <a:pPr>
              <a:defRPr sz="1600"/>
            </a:pPr>
            <a:r>
              <a:t>• Model transparency: App labels generated content and shows fallback demo modes.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What we achieved:</a:t>
            </a:r>
          </a:p>
          <a:p>
            <a:pPr>
              <a:defRPr sz="1600"/>
            </a:pPr>
            <a:r>
              <a:t>• Full ML pipeline: Preprocessing → Model A → Model B → UI.</a:t>
            </a:r>
          </a:p>
          <a:p>
            <a:pPr>
              <a:defRPr sz="1600"/>
            </a:pPr>
            <a:r>
              <a:t>• All rubric components: Supervised, Unsupervised, Semi-supervised, Ensemble.</a:t>
            </a:r>
          </a:p>
          <a:p>
            <a:pPr>
              <a:defRPr sz="1600"/>
            </a:pPr>
            <a:r>
              <a:t>• Fast inference with stunning modern UI.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Future work:</a:t>
            </a:r>
          </a:p>
          <a:p>
            <a:pPr>
              <a:defRPr sz="1600"/>
            </a:pPr>
            <a:r>
              <a:t>• Replace OHE with BERT embeddings for semantic similarity.</a:t>
            </a:r>
          </a:p>
          <a:p>
            <a:pPr>
              <a:defRPr sz="1600"/>
            </a:pPr>
            <a:r>
              <a:t>• Fine-tune GenAI (T5/GPT-2) for fluent generation.</a:t>
            </a:r>
          </a:p>
          <a:p>
            <a:pPr>
              <a:defRPr sz="1600"/>
            </a:pPr>
            <a:r>
              <a:t>• Deploy on Streamlit Cloud for remote access.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